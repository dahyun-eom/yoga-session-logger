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D20"/>
          </a:solidFill>
          <a:ln w="12700">
            <a:solidFill>
              <a:srgbClr val="151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384048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700" b="0">
                <a:solidFill>
                  <a:srgbClr val="EDF3F0"/>
                </a:solidFill>
                <a:latin typeface="Aptos"/>
              </a:defRPr>
            </a:pPr>
            <a:r>
              <a:t>Real-time yoga pose classification, balance scoring, and automatic session logging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57400" cy="310896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7A58"/>
                </a:solidFill>
                <a:latin typeface="Aptos"/>
              </a:defRPr>
            </a:pPr>
            <a:r>
              <a:t>10-minute project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72000"/>
            <a:ext cx="1463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8211E"/>
                </a:solidFill>
                <a:latin typeface="Aptos"/>
              </a:defRPr>
            </a:pPr>
            <a:r>
              <a:t>MediaPipe 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434340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4572000"/>
            <a:ext cx="1463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8211E"/>
                </a:solidFill>
                <a:latin typeface="Aptos"/>
              </a:defRPr>
            </a:pPr>
            <a:r>
              <a:t>ML 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34340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4572000"/>
            <a:ext cx="1463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8211E"/>
                </a:solidFill>
                <a:latin typeface="Aptos"/>
              </a:defRPr>
            </a:pPr>
            <a:r>
              <a:t>Stable hold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34340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572000"/>
            <a:ext cx="1463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8211E"/>
                </a:solidFill>
                <a:latin typeface="Aptos"/>
              </a:defRPr>
            </a:pPr>
            <a:r>
              <a:t>Web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080760"/>
            <a:ext cx="2926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 b="0">
                <a:solidFill>
                  <a:srgbClr val="EDF3F0"/>
                </a:solidFill>
                <a:latin typeface="Aptos"/>
              </a:defRPr>
            </a:pPr>
            <a:r>
              <a:t>Presenter: Dahyun Eom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Problem: most yoga apps assume the pose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My goal was free-form session logging: let the user move naturally while the app detects and logs poses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154680" cy="333756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Typical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423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User selects a target pose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App checks if the pose matches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Scoring/feedback is tied to that pre-selected pose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Hard-coded rules often drive pose-specific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154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My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2423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A real yoga session is not always pre-planned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The user may switch poses freely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Manual pose selection interrupts the session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Automatic logging would be more natural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600200"/>
            <a:ext cx="3154680" cy="333756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874519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Final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377440"/>
            <a:ext cx="24231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Confirmed classifier result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Automatic session table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Pose durations + totals</a:t>
            </a:r>
          </a:p>
          <a:p>
            <a:pPr>
              <a:spcAft>
                <a:spcPts val="700"/>
              </a:spcAft>
              <a:defRPr sz="1240">
                <a:solidFill>
                  <a:srgbClr val="18211E"/>
                </a:solidFill>
                <a:latin typeface="Aptos"/>
              </a:defRPr>
            </a:pPr>
            <a:r>
              <a:t>Exportable CSV for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The frontend does not invent labels; it displays the same confirmed result from the live classifier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18211E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05456"/>
            <a:ext cx="1554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60" b="0">
                <a:solidFill>
                  <a:srgbClr val="5D6F68"/>
                </a:solidFill>
                <a:latin typeface="Aptos"/>
              </a:defRPr>
            </a:pPr>
            <a:r>
              <a:t>OpenCV VideoCapture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578608"/>
            <a:ext cx="457200" cy="0"/>
          </a:xfrm>
          <a:prstGeom prst="line">
            <a:avLst/>
          </a:prstGeom>
          <a:ln w="25400">
            <a:solidFill>
              <a:srgbClr val="14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17520" y="192024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2121408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18211E"/>
                </a:solidFill>
                <a:latin typeface="Aptos"/>
              </a:defRPr>
            </a:pPr>
            <a:r>
              <a:t>Pose landmarks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2505456"/>
            <a:ext cx="1554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60" b="0">
                <a:solidFill>
                  <a:srgbClr val="5D6F68"/>
                </a:solidFill>
                <a:latin typeface="Aptos"/>
              </a:defRPr>
            </a:pPr>
            <a:r>
              <a:t>MediaPipe Pose</a:t>
            </a:r>
            <a:br/>
            <a:r>
              <a:t>33 body points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92040" y="2578608"/>
            <a:ext cx="457200" cy="0"/>
          </a:xfrm>
          <a:prstGeom prst="line">
            <a:avLst/>
          </a:prstGeom>
          <a:ln w="25400">
            <a:solidFill>
              <a:srgbClr val="14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49240" y="192024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21408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18211E"/>
                </a:solidFill>
                <a:latin typeface="Aptos"/>
              </a:defRPr>
            </a:pPr>
            <a:r>
              <a:t>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05456"/>
            <a:ext cx="1554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60" b="0">
                <a:solidFill>
                  <a:srgbClr val="5D6F68"/>
                </a:solidFill>
                <a:latin typeface="Aptos"/>
              </a:defRPr>
            </a:pPr>
            <a:r>
              <a:t>66 x/y features</a:t>
            </a:r>
            <a:br/>
            <a:r>
              <a:t>scikit-learn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23759" y="2578608"/>
            <a:ext cx="457200" cy="0"/>
          </a:xfrm>
          <a:prstGeom prst="line">
            <a:avLst/>
          </a:prstGeom>
          <a:ln w="25400">
            <a:solidFill>
              <a:srgbClr val="14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80959" y="192024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2121408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18211E"/>
                </a:solidFill>
                <a:latin typeface="Aptos"/>
              </a:defRPr>
            </a:pPr>
            <a:r>
              <a:t>Session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2505456"/>
            <a:ext cx="1554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60" b="0">
                <a:solidFill>
                  <a:srgbClr val="5D6F68"/>
                </a:solidFill>
                <a:latin typeface="Aptos"/>
              </a:defRPr>
            </a:pPr>
            <a:r>
              <a:t>stability + hold time</a:t>
            </a:r>
            <a:br/>
            <a:r>
              <a:t>balance 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2578608"/>
            <a:ext cx="457200" cy="0"/>
          </a:xfrm>
          <a:prstGeom prst="line">
            <a:avLst/>
          </a:prstGeom>
          <a:ln w="25400">
            <a:solidFill>
              <a:srgbClr val="147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12680" y="192024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121408"/>
            <a:ext cx="1554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>
                <a:solidFill>
                  <a:srgbClr val="18211E"/>
                </a:solidFill>
                <a:latin typeface="Aptos"/>
              </a:defRPr>
            </a:pPr>
            <a:r>
              <a:t>Website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505456"/>
            <a:ext cx="15544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60" b="0">
                <a:solidFill>
                  <a:srgbClr val="5D6F68"/>
                </a:solidFill>
                <a:latin typeface="Aptos"/>
              </a:defRPr>
            </a:pPr>
            <a:r>
              <a:t>Flask API + MJPEG</a:t>
            </a:r>
            <a:br/>
            <a:r>
              <a:t>browser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51960"/>
            <a:ext cx="14630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00" b="1">
                <a:solidFill>
                  <a:srgbClr val="147A58"/>
                </a:solidFill>
                <a:latin typeface="Aptos"/>
              </a:defRPr>
            </a:pPr>
            <a:r>
              <a:t>Design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211E"/>
                </a:solidFill>
                <a:latin typeface="Aptos"/>
              </a:defRPr>
            </a:pPr>
            <a:r>
              <a:t>The app was aligned back to classify_live.py after testing showed frontend-only gates changed pose results.</a:t>
            </a:r>
          </a:p>
          <a:p>
            <a:pPr>
              <a:spcAft>
                <a:spcPts val="700"/>
              </a:spcAft>
              <a:defRPr sz="1300">
                <a:solidFill>
                  <a:srgbClr val="18211E"/>
                </a:solidFill>
                <a:latin typeface="Aptos"/>
              </a:defRPr>
            </a:pPr>
            <a:r>
              <a:t>This made the web UI a presentation layer over the classifier, not a second classifier.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Why I chose an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The input is already structured landmark data, so a small neural network is a practical classifier.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6903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01368"/>
            <a:ext cx="128016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18211E"/>
                </a:solidFill>
                <a:latin typeface="Aptos"/>
              </a:defRPr>
            </a:pPr>
            <a:r>
              <a:t>Input</a:t>
            </a:r>
            <a:br/>
            <a:r>
              <a:t>66 features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258568"/>
            <a:ext cx="384048" cy="384048"/>
          </a:xfrm>
          <a:prstGeom prst="ellipse">
            <a:avLst/>
          </a:prstGeom>
          <a:solidFill>
            <a:srgbClr val="EDF3F0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788920"/>
            <a:ext cx="384048" cy="384048"/>
          </a:xfrm>
          <a:prstGeom prst="ellipse">
            <a:avLst/>
          </a:prstGeom>
          <a:solidFill>
            <a:srgbClr val="EDF3F0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3319272"/>
            <a:ext cx="384048" cy="384048"/>
          </a:xfrm>
          <a:prstGeom prst="ellipse">
            <a:avLst/>
          </a:prstGeom>
          <a:solidFill>
            <a:srgbClr val="EDF3F0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3849624"/>
            <a:ext cx="384048" cy="384048"/>
          </a:xfrm>
          <a:prstGeom prst="ellipse">
            <a:avLst/>
          </a:prstGeom>
          <a:solidFill>
            <a:srgbClr val="EDF3F0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801368"/>
            <a:ext cx="128016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18211E"/>
                </a:solidFill>
                <a:latin typeface="Aptos"/>
              </a:defRPr>
            </a:pPr>
            <a:r>
              <a:t>Hidden</a:t>
            </a:r>
            <a:br/>
            <a:r>
              <a:t>256</a:t>
            </a:r>
          </a:p>
        </p:txBody>
      </p:sp>
      <p:sp>
        <p:nvSpPr>
          <p:cNvPr id="13" name="Oval 12"/>
          <p:cNvSpPr/>
          <p:nvPr/>
        </p:nvSpPr>
        <p:spPr>
          <a:xfrm>
            <a:off x="2880360" y="1984248"/>
            <a:ext cx="384048" cy="384048"/>
          </a:xfrm>
          <a:prstGeom prst="ellipse">
            <a:avLst/>
          </a:prstGeom>
          <a:solidFill>
            <a:srgbClr val="E0A83B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0360" y="2514600"/>
            <a:ext cx="384048" cy="384048"/>
          </a:xfrm>
          <a:prstGeom prst="ellipse">
            <a:avLst/>
          </a:prstGeom>
          <a:solidFill>
            <a:srgbClr val="E0A83B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80360" y="3044952"/>
            <a:ext cx="384048" cy="384048"/>
          </a:xfrm>
          <a:prstGeom prst="ellipse">
            <a:avLst/>
          </a:prstGeom>
          <a:solidFill>
            <a:srgbClr val="E0A83B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80360" y="3575303"/>
            <a:ext cx="384048" cy="384048"/>
          </a:xfrm>
          <a:prstGeom prst="ellipse">
            <a:avLst/>
          </a:prstGeom>
          <a:solidFill>
            <a:srgbClr val="E0A83B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80360" y="4105656"/>
            <a:ext cx="384048" cy="384048"/>
          </a:xfrm>
          <a:prstGeom prst="ellipse">
            <a:avLst/>
          </a:prstGeom>
          <a:solidFill>
            <a:srgbClr val="E0A83B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801368"/>
            <a:ext cx="128016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18211E"/>
                </a:solidFill>
                <a:latin typeface="Aptos"/>
              </a:defRPr>
            </a:pPr>
            <a:r>
              <a:t>Hidden</a:t>
            </a:r>
            <a:br/>
            <a:r>
              <a:t>128</a:t>
            </a:r>
          </a:p>
        </p:txBody>
      </p:sp>
      <p:sp>
        <p:nvSpPr>
          <p:cNvPr id="19" name="Oval 18"/>
          <p:cNvSpPr/>
          <p:nvPr/>
        </p:nvSpPr>
        <p:spPr>
          <a:xfrm>
            <a:off x="4800600" y="2167128"/>
            <a:ext cx="384048" cy="384048"/>
          </a:xfrm>
          <a:prstGeom prst="ellipse">
            <a:avLst/>
          </a:prstGeom>
          <a:solidFill>
            <a:srgbClr val="CD606F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00600" y="2697480"/>
            <a:ext cx="384048" cy="384048"/>
          </a:xfrm>
          <a:prstGeom prst="ellipse">
            <a:avLst/>
          </a:prstGeom>
          <a:solidFill>
            <a:srgbClr val="CD606F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0600" y="3227832"/>
            <a:ext cx="384048" cy="384048"/>
          </a:xfrm>
          <a:prstGeom prst="ellipse">
            <a:avLst/>
          </a:prstGeom>
          <a:solidFill>
            <a:srgbClr val="CD606F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00600" y="3758183"/>
            <a:ext cx="384048" cy="384048"/>
          </a:xfrm>
          <a:prstGeom prst="ellipse">
            <a:avLst/>
          </a:prstGeom>
          <a:solidFill>
            <a:srgbClr val="CD606F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801368"/>
            <a:ext cx="128016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>
                <a:solidFill>
                  <a:srgbClr val="18211E"/>
                </a:solidFill>
                <a:latin typeface="Aptos"/>
              </a:defRPr>
            </a:pPr>
            <a:r>
              <a:t>Output</a:t>
            </a:r>
            <a:br/>
            <a:r>
              <a:t>40 poses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2624328"/>
            <a:ext cx="384048" cy="384048"/>
          </a:xfrm>
          <a:prstGeom prst="ellipse">
            <a:avLst/>
          </a:prstGeom>
          <a:solidFill>
            <a:srgbClr val="2FC98E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75120" y="3154680"/>
            <a:ext cx="384048" cy="384048"/>
          </a:xfrm>
          <a:prstGeom prst="ellipse">
            <a:avLst/>
          </a:prstGeom>
          <a:solidFill>
            <a:srgbClr val="2FC98E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0" y="3685032"/>
            <a:ext cx="384048" cy="384048"/>
          </a:xfrm>
          <a:prstGeom prst="ellipse">
            <a:avLst/>
          </a:prstGeom>
          <a:solidFill>
            <a:srgbClr val="2FC98E"/>
          </a:solidFill>
          <a:ln w="12700">
            <a:solidFill>
              <a:srgbClr val="147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1152144" y="2176272"/>
            <a:ext cx="1920240" cy="27432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52144" y="2450592"/>
            <a:ext cx="1920240" cy="25603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52144" y="2450592"/>
            <a:ext cx="1920240" cy="78638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2144" y="2450592"/>
            <a:ext cx="1920240" cy="1316736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" y="2450592"/>
            <a:ext cx="1920240" cy="1847088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152144" y="2176272"/>
            <a:ext cx="1920240" cy="80467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52144" y="2706624"/>
            <a:ext cx="1920240" cy="27432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52144" y="2980944"/>
            <a:ext cx="1920240" cy="25603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52144" y="2980944"/>
            <a:ext cx="1920240" cy="78638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52144" y="2980944"/>
            <a:ext cx="1920240" cy="1316736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52144" y="2176272"/>
            <a:ext cx="1920240" cy="133502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52144" y="2706624"/>
            <a:ext cx="1920240" cy="80467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52144" y="3236976"/>
            <a:ext cx="1920240" cy="27432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52144" y="3511296"/>
            <a:ext cx="1920240" cy="25603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52144" y="3511296"/>
            <a:ext cx="1920240" cy="78638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152144" y="2176272"/>
            <a:ext cx="1920240" cy="1865376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52144" y="2706624"/>
            <a:ext cx="1920240" cy="133502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152144" y="3236976"/>
            <a:ext cx="1920240" cy="80467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52144" y="3767328"/>
            <a:ext cx="1920240" cy="27432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52144" y="4041648"/>
            <a:ext cx="1920240" cy="25603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072384" y="2176272"/>
            <a:ext cx="1920240" cy="18288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72384" y="2176272"/>
            <a:ext cx="1920240" cy="71323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2384" y="2176272"/>
            <a:ext cx="1920240" cy="124358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72384" y="2176272"/>
            <a:ext cx="1920240" cy="1773935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072384" y="2359152"/>
            <a:ext cx="1920240" cy="34747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72384" y="2706624"/>
            <a:ext cx="1920240" cy="18288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072384" y="2706624"/>
            <a:ext cx="1920240" cy="71323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072384" y="2706624"/>
            <a:ext cx="1920240" cy="1243583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072384" y="2359152"/>
            <a:ext cx="1920240" cy="87782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072384" y="2889504"/>
            <a:ext cx="1920240" cy="34747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072384" y="3236976"/>
            <a:ext cx="1920240" cy="18288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72384" y="3236976"/>
            <a:ext cx="1920240" cy="713231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072384" y="2359152"/>
            <a:ext cx="1920240" cy="1408176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072384" y="2889504"/>
            <a:ext cx="1920240" cy="87782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072384" y="3419856"/>
            <a:ext cx="1920240" cy="34747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72384" y="3767328"/>
            <a:ext cx="1920240" cy="182879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072384" y="2359152"/>
            <a:ext cx="1920240" cy="1938528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072384" y="2889504"/>
            <a:ext cx="1920240" cy="1408176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072384" y="3419856"/>
            <a:ext cx="1920240" cy="87782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072384" y="3950207"/>
            <a:ext cx="1920240" cy="347473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992624" y="2359152"/>
            <a:ext cx="1874520" cy="45720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92624" y="2359152"/>
            <a:ext cx="1874520" cy="98755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992624" y="2359152"/>
            <a:ext cx="1874520" cy="151790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992624" y="2816352"/>
            <a:ext cx="1874520" cy="7315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992624" y="2889504"/>
            <a:ext cx="1874520" cy="45720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992624" y="2889504"/>
            <a:ext cx="1874520" cy="98755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992624" y="2816352"/>
            <a:ext cx="1874520" cy="603504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992624" y="3346704"/>
            <a:ext cx="1874520" cy="73152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992624" y="3419856"/>
            <a:ext cx="1874520" cy="457200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992624" y="2816352"/>
            <a:ext cx="1874520" cy="1133855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992624" y="3346704"/>
            <a:ext cx="1874520" cy="603503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992624" y="3877056"/>
            <a:ext cx="1874520" cy="73151"/>
          </a:xfrm>
          <a:prstGeom prst="line">
            <a:avLst/>
          </a:prstGeom>
          <a:ln w="7620">
            <a:solidFill>
              <a:srgbClr val="CED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51560" y="5093208"/>
            <a:ext cx="6217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0">
                <a:solidFill>
                  <a:srgbClr val="5D6F68"/>
                </a:solidFill>
                <a:latin typeface="Aptos"/>
              </a:defRPr>
            </a:pPr>
            <a:r>
              <a:t>Each neuron combines weighted landmark features and learns nonlinear pose patterns.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01000" y="1353312"/>
            <a:ext cx="3474720" cy="452628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75320" y="1664208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Why MLP fits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5320" y="2148840"/>
            <a:ext cx="278892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Input is not raw pixels</a:t>
            </a:r>
          </a:p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MediaPipe already gives 66 numeric x/y features</a:t>
            </a:r>
          </a:p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MLP learns nonlinear joint relationships</a:t>
            </a:r>
          </a:p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Lighter than training a CNN</a:t>
            </a:r>
          </a:p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Easier than hand-coding angle rules for 40 poses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" y="6080760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50" b="1">
                <a:solidFill>
                  <a:srgbClr val="147A58"/>
                </a:solidFill>
                <a:latin typeface="Aptos"/>
              </a:defRPr>
            </a:pPr>
            <a:r>
              <a:t>Defense point: MediaPipe handles perception; the MLP handles classification from clean landmark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Classifier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I trained the pose classifier from downloaded Yoga-82 images using MediaPipe keypoints and an MLP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1911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50" b="1">
                <a:solidFill>
                  <a:srgbClr val="5D6F68"/>
                </a:solidFill>
                <a:latin typeface="Aptos"/>
              </a:defRPr>
            </a:pPr>
            <a:r>
              <a:t>POSE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10512"/>
            <a:ext cx="19110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147A5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94560"/>
            <a:ext cx="191109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50" b="0">
                <a:solidFill>
                  <a:srgbClr val="5D6F68"/>
                </a:solidFill>
                <a:latin typeface="Aptos"/>
              </a:defRPr>
            </a:pPr>
            <a:r>
              <a:t>downloaded pose folders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563624"/>
            <a:ext cx="1911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50" b="1">
                <a:solidFill>
                  <a:srgbClr val="5D6F68"/>
                </a:solidFill>
                <a:latin typeface="Aptos"/>
              </a:defRPr>
            </a:pPr>
            <a:r>
              <a:t>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810512"/>
            <a:ext cx="19110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147A58"/>
                </a:solidFill>
                <a:latin typeface="Aptos"/>
              </a:defRPr>
            </a:pPr>
            <a:r>
              <a:t>11,566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194560"/>
            <a:ext cx="191109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50" b="0">
                <a:solidFill>
                  <a:srgbClr val="5D6F68"/>
                </a:solidFill>
                <a:latin typeface="Aptos"/>
              </a:defRPr>
            </a:pPr>
            <a:r>
              <a:t>keypoint rows extracted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41732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1563624"/>
            <a:ext cx="1911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50" b="1">
                <a:solidFill>
                  <a:srgbClr val="5D6F68"/>
                </a:solidFill>
                <a:latin typeface="Aptos"/>
              </a:defRPr>
            </a:pPr>
            <a:r>
              <a:t>TRAIN /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1810512"/>
            <a:ext cx="19110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147A58"/>
                </a:solidFill>
                <a:latin typeface="Aptos"/>
              </a:defRPr>
            </a:pPr>
            <a:r>
              <a:t>9,252 / 2,314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1" y="2194560"/>
            <a:ext cx="191109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50" b="0">
                <a:solidFill>
                  <a:srgbClr val="5D6F68"/>
                </a:solidFill>
                <a:latin typeface="Aptos"/>
              </a:defRPr>
            </a:pPr>
            <a:r>
              <a:t>stratified split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41732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563624"/>
            <a:ext cx="19110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50" b="1">
                <a:solidFill>
                  <a:srgbClr val="5D6F68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1810512"/>
            <a:ext cx="19110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000" b="1">
                <a:solidFill>
                  <a:srgbClr val="147A58"/>
                </a:solidFill>
                <a:latin typeface="Aptos"/>
              </a:defRPr>
            </a:pPr>
            <a:r>
              <a:t>86.9%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194560"/>
            <a:ext cx="1911096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850" b="0">
                <a:solidFill>
                  <a:srgbClr val="5D6F68"/>
                </a:solidFill>
                <a:latin typeface="Aptos"/>
              </a:defRPr>
            </a:pPr>
            <a:r>
              <a:t>held-out test 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71800"/>
            <a:ext cx="10744200" cy="12344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0400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 b="1">
                <a:solidFill>
                  <a:srgbClr val="18211E"/>
                </a:solidFill>
                <a:latin typeface="Aptos"/>
              </a:defRPr>
            </a:pPr>
            <a:r>
              <a:t>Training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611880"/>
            <a:ext cx="100126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40" b="0">
                <a:solidFill>
                  <a:srgbClr val="18211E"/>
                </a:solidFill>
                <a:latin typeface="Aptos"/>
              </a:defRPr>
            </a:pPr>
            <a:r>
              <a:t>download images → original + flipped keypoint extraction → 66-feature keypoints.csv → train_model_mlp.py → pose_model.pkl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754880"/>
            <a:ext cx="1371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 b="1">
                <a:solidFill>
                  <a:srgbClr val="5D6F68"/>
                </a:solidFill>
                <a:latin typeface="Aptos"/>
              </a:defRPr>
            </a:pPr>
            <a:r>
              <a:t>Accuracy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074920"/>
            <a:ext cx="4389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80" b="0">
                <a:solidFill>
                  <a:srgbClr val="18211E"/>
                </a:solidFill>
                <a:latin typeface="Aptos"/>
              </a:defRPr>
            </a:pPr>
            <a:r>
              <a:t>Horizontal flip augmentation doubled orientation coverage for left/right body 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57200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75488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 b="1">
                <a:solidFill>
                  <a:srgbClr val="5D6F68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074920"/>
            <a:ext cx="4389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80" b="0">
                <a:solidFill>
                  <a:srgbClr val="18211E"/>
                </a:solidFill>
                <a:latin typeface="Aptos"/>
              </a:defRPr>
            </a:pPr>
            <a:r>
              <a:t>MLPClassifier hidden layers (256, 128), trained on original + flipped landmarks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Model tuning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Changing hidden-layer size changes accuracy, but most reasonable MLPs clustered near 86-87%.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lp_architectur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37960" cy="379201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353312"/>
            <a:ext cx="3794760" cy="443484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664208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What the graph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48840"/>
            <a:ext cx="306324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Best single result: (128,) at 87.0%</a:t>
            </a:r>
          </a:p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(256,128) reached 86.9%, nearly tied with the best</a:t>
            </a:r>
          </a:p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(256,128) had slightly stronger macro-F1 on the imbalanced 40-pose dataset</a:t>
            </a:r>
          </a:p>
          <a:p>
            <a:pPr>
              <a:spcAft>
                <a:spcPts val="700"/>
              </a:spcAft>
              <a:defRPr sz="1170">
                <a:solidFill>
                  <a:srgbClr val="18211E"/>
                </a:solidFill>
                <a:latin typeface="Aptos"/>
              </a:defRPr>
            </a:pPr>
            <a:r>
              <a:t>Very deep/wide is not automatically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892040"/>
            <a:ext cx="306324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20" b="0">
                <a:solidFill>
                  <a:srgbClr val="5D6F68"/>
                </a:solidFill>
                <a:latin typeface="Aptos"/>
              </a:defRPr>
            </a:pPr>
            <a:r>
              <a:t>Defense point: I kept (256,128) because it balances accuracy, capacity, and per-class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Session logging converts predictions into usable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A pose is shown/logged only after it survives the stability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2926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500" b="1">
                <a:solidFill>
                  <a:srgbClr val="18211E"/>
                </a:solidFill>
                <a:latin typeface="Aptos"/>
              </a:defRPr>
            </a:pPr>
            <a:r>
              <a:t>Stability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2331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Compare current smoothed keypoints to previous frame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Movement = mean absolute keypoint difference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If movement &lt; 0.05 and label is unchanged, count stable frame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30 stable frames ≈ 1 second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2926080" cy="356616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783080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500" b="1">
                <a:solidFill>
                  <a:srgbClr val="18211E"/>
                </a:solidFill>
                <a:latin typeface="Aptos"/>
              </a:defRPr>
            </a:pPr>
            <a:r>
              <a:t>Logging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240280"/>
            <a:ext cx="2331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Keep accumulating hold time for the same pose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When pose changes, log the previous pose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Only log if duration ≥ 1 second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Show recent entries in the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08760"/>
            <a:ext cx="2926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783080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500" b="1">
                <a:solidFill>
                  <a:srgbClr val="18211E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40280"/>
            <a:ext cx="2331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Reduces flicker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Prevents accidental one-frame logs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Turns recognition into a session summary</a:t>
            </a:r>
          </a:p>
          <a:p>
            <a:pPr>
              <a:spcAft>
                <a:spcPts val="700"/>
              </a:spcAft>
              <a:defRPr sz="1180">
                <a:solidFill>
                  <a:srgbClr val="18211E"/>
                </a:solidFill>
                <a:latin typeface="Aptos"/>
              </a:defRPr>
            </a:pPr>
            <a:r>
              <a:t>Makes export meaningful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Balance score estimates steadiness, not pose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Balance is computed from body sway during a held 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937760" cy="425196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What is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160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211E"/>
                </a:solidFill>
                <a:latin typeface="Aptos"/>
              </a:defRPr>
            </a:pPr>
            <a:r>
              <a:t>Torso center movement over the hold</a:t>
            </a:r>
          </a:p>
          <a:p>
            <a:pPr>
              <a:spcAft>
                <a:spcPts val="700"/>
              </a:spcAft>
              <a:defRPr sz="1300">
                <a:solidFill>
                  <a:srgbClr val="18211E"/>
                </a:solidFill>
                <a:latin typeface="Aptos"/>
              </a:defRPr>
            </a:pPr>
            <a:r>
              <a:t>Shoulder tilt variation over the hold</a:t>
            </a:r>
          </a:p>
          <a:p>
            <a:pPr>
              <a:spcAft>
                <a:spcPts val="700"/>
              </a:spcAft>
              <a:defRPr sz="1300">
                <a:solidFill>
                  <a:srgbClr val="18211E"/>
                </a:solidFill>
                <a:latin typeface="Aptos"/>
              </a:defRPr>
            </a:pPr>
            <a:r>
              <a:t>Normalized by torso length so camera distance has less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41605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700" b="1">
                <a:solidFill>
                  <a:srgbClr val="147A58"/>
                </a:solidFill>
                <a:latin typeface="Aptos"/>
              </a:defRPr>
            </a:pPr>
            <a:r>
              <a:t>score = 100 - sway penalty - tilt penalty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17720"/>
            <a:ext cx="4160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00" b="0">
                <a:solidFill>
                  <a:srgbClr val="5D6F68"/>
                </a:solidFill>
                <a:latin typeface="Aptos"/>
              </a:defRPr>
            </a:pPr>
            <a:r>
              <a:t>Higher score = steadier 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6304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8308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Defense distinction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331720"/>
            <a:ext cx="4160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8211E"/>
                </a:solidFill>
                <a:latin typeface="Aptos"/>
              </a:defRPr>
            </a:pPr>
            <a:r>
              <a:t>It does not grade yoga form accuracy</a:t>
            </a:r>
          </a:p>
          <a:p>
            <a:pPr>
              <a:spcAft>
                <a:spcPts val="700"/>
              </a:spcAft>
              <a:defRPr sz="1300">
                <a:solidFill>
                  <a:srgbClr val="18211E"/>
                </a:solidFill>
                <a:latin typeface="Aptos"/>
              </a:defRPr>
            </a:pPr>
            <a:r>
              <a:t>It does not compare against an ideal pose template</a:t>
            </a:r>
          </a:p>
          <a:p>
            <a:pPr>
              <a:spcAft>
                <a:spcPts val="700"/>
              </a:spcAft>
              <a:defRPr sz="1300">
                <a:solidFill>
                  <a:srgbClr val="18211E"/>
                </a:solidFill>
                <a:latin typeface="Aptos"/>
              </a:defRPr>
            </a:pPr>
            <a:r>
              <a:t>It only measures how much the detected body landmarks wobble during a stable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617720"/>
            <a:ext cx="42062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 b="0">
                <a:solidFill>
                  <a:srgbClr val="5D6F68"/>
                </a:solidFill>
                <a:latin typeface="Aptos"/>
              </a:defRPr>
            </a:pPr>
            <a:r>
              <a:t>This makes the feature honest: balance is a stability metric, not a coach.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Frontend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The website makes the classifier usable during a yoga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400800" cy="4343400"/>
          </a:xfrm>
          <a:prstGeom prst="roundRect">
            <a:avLst/>
          </a:prstGeom>
          <a:solidFill>
            <a:srgbClr val="151D20"/>
          </a:solidFill>
          <a:ln w="12700">
            <a:solidFill>
              <a:srgbClr val="151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Live session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52120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14016"/>
            <a:ext cx="475488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18211E"/>
                </a:solidFill>
                <a:latin typeface="Aptos"/>
              </a:defRPr>
            </a:pPr>
            <a:r>
              <a:t>Live camera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862072"/>
            <a:ext cx="52120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944368"/>
            <a:ext cx="475488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18211E"/>
                </a:solidFill>
                <a:latin typeface="Aptos"/>
              </a:defRPr>
            </a:pPr>
            <a:r>
              <a:t>Confirmed classifier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392424"/>
            <a:ext cx="52120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74720"/>
            <a:ext cx="475488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18211E"/>
                </a:solidFill>
                <a:latin typeface="Aptos"/>
              </a:defRPr>
            </a:pPr>
            <a:r>
              <a:t>Hold timer +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922775"/>
            <a:ext cx="52120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005072"/>
            <a:ext cx="475488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18211E"/>
                </a:solidFill>
                <a:latin typeface="Aptos"/>
              </a:defRPr>
            </a:pPr>
            <a:r>
              <a:t>Balance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53127"/>
            <a:ext cx="52120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535424"/>
            <a:ext cx="475488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50" b="0">
                <a:solidFill>
                  <a:srgbClr val="18211E"/>
                </a:solidFill>
                <a:latin typeface="Aptos"/>
              </a:defRPr>
            </a:pPr>
            <a:r>
              <a:t>Session log + CSV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417320"/>
            <a:ext cx="3977639" cy="434340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737360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Key integration choice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240280"/>
            <a:ext cx="31546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8211E"/>
                </a:solidFill>
                <a:latin typeface="Aptos"/>
              </a:defRPr>
            </a:pPr>
            <a:r>
              <a:t>The browser receives the same confirmed result as classify_live.py</a:t>
            </a:r>
          </a:p>
          <a:p>
            <a:pPr>
              <a:spcAft>
                <a:spcPts val="700"/>
              </a:spcAft>
              <a:defRPr sz="1220">
                <a:solidFill>
                  <a:srgbClr val="18211E"/>
                </a:solidFill>
                <a:latin typeface="Aptos"/>
              </a:defRPr>
            </a:pPr>
            <a:r>
              <a:t>The backend owns camera + model inference</a:t>
            </a:r>
          </a:p>
          <a:p>
            <a:pPr>
              <a:spcAft>
                <a:spcPts val="700"/>
              </a:spcAft>
              <a:defRPr sz="1220">
                <a:solidFill>
                  <a:srgbClr val="18211E"/>
                </a:solidFill>
                <a:latin typeface="Aptos"/>
              </a:defRPr>
            </a:pPr>
            <a:r>
              <a:t>The frontend polls session state and renders the stream</a:t>
            </a:r>
          </a:p>
          <a:p>
            <a:pPr>
              <a:spcAft>
                <a:spcPts val="700"/>
              </a:spcAft>
              <a:defRPr sz="1220">
                <a:solidFill>
                  <a:srgbClr val="18211E"/>
                </a:solidFill>
                <a:latin typeface="Aptos"/>
              </a:defRPr>
            </a:pPr>
            <a:r>
              <a:t>Port moved to 5001 to avoid macOS AirPlay conflict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My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I moved the project from a classifier script to a usable session-logging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828800" cy="50292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47A58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8138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572768"/>
            <a:ext cx="77266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50" b="0">
                <a:solidFill>
                  <a:srgbClr val="18211E"/>
                </a:solidFill>
                <a:latin typeface="Aptos"/>
              </a:defRPr>
            </a:pPr>
            <a:r>
              <a:t>Downloaded data for 40 yoga poses and extracted original + horizontally flipped keypoints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1828800" cy="50292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47A58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103120"/>
            <a:ext cx="8138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258568"/>
            <a:ext cx="77266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50" b="0">
                <a:solidFill>
                  <a:srgbClr val="18211E"/>
                </a:solidFill>
                <a:latin typeface="Aptos"/>
              </a:defRPr>
            </a:pPr>
            <a:r>
              <a:t>Wrote train_model_mlp.py and trained an MLP classifier with 86.9% test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88920"/>
            <a:ext cx="1828800" cy="50292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5351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47A58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788920"/>
            <a:ext cx="8138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2944368"/>
            <a:ext cx="77266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50" b="0">
                <a:solidFill>
                  <a:srgbClr val="18211E"/>
                </a:solidFill>
                <a:latin typeface="Aptos"/>
              </a:defRPr>
            </a:pPr>
            <a:r>
              <a:t>Built Flask website, live stream, state API, dashboard, and CSV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74720"/>
            <a:ext cx="1828800" cy="50292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3931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47A58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474720"/>
            <a:ext cx="8138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630168"/>
            <a:ext cx="77266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50" b="0">
                <a:solidFill>
                  <a:srgbClr val="18211E"/>
                </a:solidFill>
                <a:latin typeface="Aptos"/>
              </a:defRPr>
            </a:pPr>
            <a:r>
              <a:t>Aligned frontend result to classify_live.py after debugging mismatches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160520"/>
            <a:ext cx="1828800" cy="50292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325112"/>
            <a:ext cx="14173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>
                <a:solidFill>
                  <a:srgbClr val="147A58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4160520"/>
            <a:ext cx="8138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4315968"/>
            <a:ext cx="7726679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50" b="0">
                <a:solidFill>
                  <a:srgbClr val="18211E"/>
                </a:solidFill>
                <a:latin typeface="Aptos"/>
              </a:defRPr>
            </a:pPr>
            <a:r>
              <a:t>Added balance scoring from held-pose landmark sway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32120"/>
            <a:ext cx="10241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500" b="1">
                <a:solidFill>
                  <a:srgbClr val="147A58"/>
                </a:solidFill>
                <a:latin typeface="Aptos"/>
              </a:defRPr>
            </a:pPr>
            <a:r>
              <a:t>Contribution claim: I contributed the dataset/model training path and the product layer that logs free-form sessions.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Limitations and defense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The system is honest about what it can and cannot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297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8211E"/>
                </a:solidFill>
                <a:latin typeface="Aptos"/>
              </a:defRPr>
            </a:pPr>
            <a:r>
              <a:t>Closed-set model can still confuse visually similar poses</a:t>
            </a:r>
          </a:p>
          <a:p>
            <a:pPr>
              <a:spcAft>
                <a:spcPts val="700"/>
              </a:spcAft>
              <a:defRPr sz="1250">
                <a:solidFill>
                  <a:srgbClr val="18211E"/>
                </a:solidFill>
                <a:latin typeface="Aptos"/>
              </a:defRPr>
            </a:pPr>
            <a:r>
              <a:t>No explicit no-pose/resting training class</a:t>
            </a:r>
          </a:p>
          <a:p>
            <a:pPr>
              <a:spcAft>
                <a:spcPts val="700"/>
              </a:spcAft>
              <a:defRPr sz="1250">
                <a:solidFill>
                  <a:srgbClr val="18211E"/>
                </a:solidFill>
                <a:latin typeface="Aptos"/>
              </a:defRPr>
            </a:pPr>
            <a:r>
              <a:t>Balance score measures steadiness, not correctness</a:t>
            </a:r>
          </a:p>
          <a:p>
            <a:pPr>
              <a:spcAft>
                <a:spcPts val="700"/>
              </a:spcAft>
              <a:defRPr sz="1250">
                <a:solidFill>
                  <a:srgbClr val="18211E"/>
                </a:solidFill>
                <a:latin typeface="Aptos"/>
              </a:defRPr>
            </a:pPr>
            <a:r>
              <a:t>Camera angle and body visibility affect landmarks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257800" cy="4480560"/>
          </a:xfrm>
          <a:prstGeom prst="roundRect">
            <a:avLst/>
          </a:prstGeom>
          <a:solidFill>
            <a:srgbClr val="EDF3F0"/>
          </a:solidFill>
          <a:ln w="12700">
            <a:solidFill>
              <a:srgbClr val="CE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2377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8211E"/>
                </a:solidFill>
                <a:latin typeface="Aptos"/>
              </a:defRPr>
            </a:pPr>
            <a:r>
              <a:t>How I defend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4297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8211E"/>
                </a:solidFill>
                <a:latin typeface="Aptos"/>
              </a:defRPr>
            </a:pPr>
            <a:r>
              <a:t>Separated raw classifier testing from web logging</a:t>
            </a:r>
          </a:p>
          <a:p>
            <a:pPr>
              <a:spcAft>
                <a:spcPts val="700"/>
              </a:spcAft>
              <a:defRPr sz="1250">
                <a:solidFill>
                  <a:srgbClr val="18211E"/>
                </a:solidFill>
                <a:latin typeface="Aptos"/>
              </a:defRPr>
            </a:pPr>
            <a:r>
              <a:t>Used stable-frame confirmation to reduce flicker</a:t>
            </a:r>
          </a:p>
          <a:p>
            <a:pPr>
              <a:spcAft>
                <a:spcPts val="700"/>
              </a:spcAft>
              <a:defRPr sz="1250">
                <a:solidFill>
                  <a:srgbClr val="18211E"/>
                </a:solidFill>
                <a:latin typeface="Aptos"/>
              </a:defRPr>
            </a:pPr>
            <a:r>
              <a:t>Kept frontend aligned with the trusted live classifier</a:t>
            </a:r>
          </a:p>
          <a:p>
            <a:pPr>
              <a:spcAft>
                <a:spcPts val="700"/>
              </a:spcAft>
              <a:defRPr sz="1250">
                <a:solidFill>
                  <a:srgbClr val="18211E"/>
                </a:solidFill>
                <a:latin typeface="Aptos"/>
              </a:defRPr>
            </a:pPr>
            <a:r>
              <a:t>Designed next steps: add no-pose data and pose-correctness scoring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7863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2200" b="1">
                <a:solidFill>
                  <a:srgbClr val="18211E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58952"/>
            <a:ext cx="78638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50" b="0">
                <a:solidFill>
                  <a:srgbClr val="5D6F68"/>
                </a:solidFill>
                <a:latin typeface="Aptos"/>
              </a:defRPr>
            </a:pPr>
            <a:r>
              <a:t>YoseLog turns pose detection into a session record a user can actually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384048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1000" b="1">
                <a:solidFill>
                  <a:srgbClr val="147A58"/>
                </a:solidFill>
                <a:latin typeface="Aptos"/>
              </a:defRPr>
            </a:pPr>
            <a:r>
              <a:t>YoseLog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18288"/>
          </a:xfrm>
          <a:prstGeom prst="rect">
            <a:avLst/>
          </a:prstGeom>
          <a:solidFill>
            <a:srgbClr val="CE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500" b="1">
                <a:solidFill>
                  <a:srgbClr val="147A58"/>
                </a:solidFill>
                <a:latin typeface="Aptos"/>
              </a:defRPr>
            </a:pPr>
            <a:r>
              <a:t>What I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11E"/>
                </a:solidFill>
                <a:latin typeface="Aptos"/>
              </a:defRPr>
            </a:pPr>
            <a:r>
              <a:t>Real-time yoga pose classification</a:t>
            </a:r>
          </a:p>
          <a:p>
            <a:pPr>
              <a:spcAft>
                <a:spcPts val="700"/>
              </a:spcAft>
              <a:defRPr sz="1400">
                <a:solidFill>
                  <a:srgbClr val="18211E"/>
                </a:solidFill>
                <a:latin typeface="Aptos"/>
              </a:defRPr>
            </a:pPr>
            <a:r>
              <a:t>Automatic duration logging</a:t>
            </a:r>
          </a:p>
          <a:p>
            <a:pPr>
              <a:spcAft>
                <a:spcPts val="700"/>
              </a:spcAft>
              <a:defRPr sz="1400">
                <a:solidFill>
                  <a:srgbClr val="18211E"/>
                </a:solidFill>
                <a:latin typeface="Aptos"/>
              </a:defRPr>
            </a:pPr>
            <a:r>
              <a:t>Balance scoring during stable holds</a:t>
            </a:r>
          </a:p>
          <a:p>
            <a:pPr>
              <a:spcAft>
                <a:spcPts val="700"/>
              </a:spcAft>
              <a:defRPr sz="1400">
                <a:solidFill>
                  <a:srgbClr val="18211E"/>
                </a:solidFill>
                <a:latin typeface="Aptos"/>
              </a:defRPr>
            </a:pPr>
            <a:r>
              <a:t>Browser dashboard and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463040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500" b="1">
                <a:solidFill>
                  <a:srgbClr val="147A58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920240"/>
            <a:ext cx="44805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8211E"/>
                </a:solidFill>
                <a:latin typeface="Aptos"/>
              </a:defRPr>
            </a:pPr>
            <a:r>
              <a:t>It reduces manual tracking</a:t>
            </a:r>
          </a:p>
          <a:p>
            <a:pPr>
              <a:spcAft>
                <a:spcPts val="700"/>
              </a:spcAft>
              <a:defRPr sz="1400">
                <a:solidFill>
                  <a:srgbClr val="18211E"/>
                </a:solidFill>
                <a:latin typeface="Aptos"/>
              </a:defRPr>
            </a:pPr>
            <a:r>
              <a:t>It makes model output understandable</a:t>
            </a:r>
          </a:p>
          <a:p>
            <a:pPr>
              <a:spcAft>
                <a:spcPts val="700"/>
              </a:spcAft>
              <a:defRPr sz="1400">
                <a:solidFill>
                  <a:srgbClr val="18211E"/>
                </a:solidFill>
                <a:latin typeface="Aptos"/>
              </a:defRPr>
            </a:pPr>
            <a:r>
              <a:t>It creates a foundation for future coaching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83480"/>
            <a:ext cx="10149840" cy="777240"/>
          </a:xfrm>
          <a:prstGeom prst="roundRect">
            <a:avLst/>
          </a:prstGeom>
          <a:solidFill>
            <a:srgbClr val="151D20"/>
          </a:solidFill>
          <a:ln w="12700">
            <a:solidFill>
              <a:srgbClr val="151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257800"/>
            <a:ext cx="9418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Defense thesis: my main contribution was building the reliable session layer around the classifier.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